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a20c44fd3c443c" /><Relationship Type="http://schemas.openxmlformats.org/officeDocument/2006/relationships/extended-properties" Target="/docProps/app.xml" Id="R31872b5f157e4aa2" /><Relationship Type="http://schemas.openxmlformats.org/officeDocument/2006/relationships/officeDocument" Target="/ppt/presentation.xml" Id="R5f1a48162a7c43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bed21bd77d4b89"/>
  </p:sldMasterIdLst>
  <p:notesMasterIdLst>
    <p:notesMasterId xmlns:r="http://schemas.openxmlformats.org/officeDocument/2006/relationships" r:id="Rc0f1ce1d950946f0"/>
  </p:notesMasterIdLst>
  <p:sldIdLst>
    <p:sldId xmlns:r="http://schemas.openxmlformats.org/officeDocument/2006/relationships" id="256" r:id="R00c1a1d74d8a4000"/>
    <p:sldId xmlns:r="http://schemas.openxmlformats.org/officeDocument/2006/relationships" id="257" r:id="R0b32311edb0944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2f845368e94386" /><Relationship Type="http://schemas.openxmlformats.org/officeDocument/2006/relationships/slideMaster" Target="/ppt/slideMasters/slideMaster1.xml" Id="R64bed21bd77d4b89" /><Relationship Type="http://schemas.openxmlformats.org/officeDocument/2006/relationships/notesMaster" Target="/ppt/notesMasters/notesMaster1.xml" Id="Rc0f1ce1d950946f0" /><Relationship Type="http://schemas.openxmlformats.org/officeDocument/2006/relationships/presProps" Target="/ppt/presProps.xml" Id="R033e78cc3ea94428" /><Relationship Type="http://schemas.openxmlformats.org/officeDocument/2006/relationships/tableStyles" Target="/ppt/tableStyles.xml" Id="Rd43453485c4847f6" /><Relationship Type="http://schemas.openxmlformats.org/officeDocument/2006/relationships/slide" Target="/ppt/slides/slide1.xml" Id="R00c1a1d74d8a4000" /><Relationship Type="http://schemas.openxmlformats.org/officeDocument/2006/relationships/slide" Target="/ppt/slides/slide2.xml" Id="R0b32311edb0944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5f0699d73441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04a77a13f4c08" /><Relationship Type="http://schemas.openxmlformats.org/officeDocument/2006/relationships/notesMaster" Target="/ppt/notesMasters/notesMaster1.xml" Id="R68e5f8aa0ecf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3adaddaa334ee6" /><Relationship Type="http://schemas.openxmlformats.org/officeDocument/2006/relationships/notesMaster" Target="/ppt/notesMasters/notesMaster1.xml" Id="R8290ef1b1d56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Milestone 3 coupled the API and durable state to the VM disk.</a:t>
            </a:r>
          </a:p>
          <a:p xmlns:a="http://schemas.openxmlformats.org/drawingml/2006/main">
            <a:r>
              <a:t>Milestone 4 keeps only stateless execution and disposable model caches on compute.</a:t>
            </a:r>
          </a:p>
          <a:p xmlns:a="http://schemas.openxmlformats.org/drawingml/2006/main">
            <a:r>
              <a:t>Cloud SQL owns relational state, Cloud Storage owns files, and Secret Manager owns secrets.</a:t>
            </a:r>
          </a:p>
          <a:p xmlns:a="http://schemas.openxmlformats.org/drawingml/2006/main">
            <a:r>
              <a:t>Deleting the VM now causes downtime but does not delete application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static VM IP is used only for source-restricted SSH administration; Hush TCP 57327 is bound to VM loopback.</a:t>
            </a:r>
          </a:p>
          <a:p xmlns:a="http://schemas.openxmlformats.org/drawingml/2006/main">
            <a:r>
              <a:t>Browser and desktop clients use local port 57328 through an encrypted SSH tunnel to the cloud VM.</a:t>
            </a:r>
          </a:p>
          <a:p xmlns:a="http://schemas.openxmlformats.org/drawingml/2006/main">
            <a:r>
              <a:t>The VM is inside hush-subnet 10.10.0.0/24 and reaches Cloud SQL over private service access at 172.18.170.3.</a:t>
            </a:r>
          </a:p>
          <a:p xmlns:a="http://schemas.openxmlformats.org/drawingml/2006/main">
            <a:r>
              <a:t>Cloud SQL has no public IP.</a:t>
            </a:r>
          </a:p>
          <a:p xmlns:a="http://schemas.openxmlformats.org/drawingml/2006/main">
            <a:r>
              <a:t>The attached hush-runtime service account supplies keyless identity through Application Default Credentials.</a:t>
            </a:r>
          </a:p>
          <a:p xmlns:a="http://schemas.openxmlformats.org/drawingml/2006/main">
            <a:r>
              <a:t>Project roles are Artifact Registry Reader, Cloud SQL Client, and Logs Writer. Secret Accessor and Storage Object User are scoped directly to the required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e73d401ae45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b4b0922cf43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270d61a1945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fc45e48e44e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0d4951c8745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557060181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BB5B54-BF81-4DDC-B5AD-D4A0BE2179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86AA8E-16D4-4059-8BA2-7808C73F18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88948C-78C3-4510-BBB5-DB0B1D2B1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59A3BC-7E66-4507-999C-4A549E30E0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5E7A5D-E9B9-479A-AE14-9F09FEAE87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173B3D-0BC5-441C-ADCD-A7CCE4E3B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EB9086-686F-41D5-9DD2-DCC7360C68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BBEB93-32C9-40C7-A0CA-01D1D76FDE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2B6143-47BF-4F55-A2FC-70133F2B2E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0603F7-2381-44C9-91DF-0B947A377E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f83111f4804fd6" /><Relationship Type="http://schemas.openxmlformats.org/officeDocument/2006/relationships/slideLayout" Target="/ppt/slideLayouts/slideLayout1.xml" Id="Rf26e4b73977141cc" /><Relationship Type="http://schemas.openxmlformats.org/officeDocument/2006/relationships/slideLayout" Target="/ppt/slideLayouts/slideLayout2.xml" Id="R3adce4702f6242a7" /><Relationship Type="http://schemas.openxmlformats.org/officeDocument/2006/relationships/slideLayout" Target="/ppt/slideLayouts/slideLayout3.xml" Id="Rc8f9ccf0b53c44be" /><Relationship Type="http://schemas.openxmlformats.org/officeDocument/2006/relationships/slideLayout" Target="/ppt/slideLayouts/slideLayout4.xml" Id="Rce913bc6c53f48e5" /><Relationship Type="http://schemas.openxmlformats.org/officeDocument/2006/relationships/slideLayout" Target="/ppt/slideLayouts/slideLayout5.xml" Id="R0a05ec4e1e724955" /><Relationship Type="http://schemas.openxmlformats.org/officeDocument/2006/relationships/slideLayout" Target="/ppt/slideLayouts/slideLayout6.xml" Id="R1fa0604a283e48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6e4b73977141cc"/>
    <p:sldLayoutId xmlns:r="http://schemas.openxmlformats.org/officeDocument/2006/relationships" id="2147483650" r:id="R3adce4702f6242a7"/>
    <p:sldLayoutId xmlns:r="http://schemas.openxmlformats.org/officeDocument/2006/relationships" id="2147483651" r:id="Rc8f9ccf0b53c44be"/>
    <p:sldLayoutId xmlns:r="http://schemas.openxmlformats.org/officeDocument/2006/relationships" id="2147483652" r:id="Rce913bc6c53f48e5"/>
    <p:sldLayoutId xmlns:r="http://schemas.openxmlformats.org/officeDocument/2006/relationships" id="2147483653" r:id="R0a05ec4e1e724955"/>
    <p:sldLayoutId xmlns:r="http://schemas.openxmlformats.org/officeDocument/2006/relationships" id="2147483654" r:id="R1fa0604a283e48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f3e8315714954" /><Relationship Type="http://schemas.openxmlformats.org/officeDocument/2006/relationships/notesSlide" Target="/ppt/notesSlides/notesSlide1.xml" Id="R20f1ac1d3f3b40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10ed92c88475b" /><Relationship Type="http://schemas.openxmlformats.org/officeDocument/2006/relationships/notesSlide" Target="/ppt/notesSlides/notesSlide2.xml" Id="R94e0eb6e951a44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D992A-E336-40AB-B6C2-331B941E066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734425" y="2962275"/>
            <a:ext cx="523875" cy="1828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29B24-15B3-4713-9257-B76C540FA02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734425" y="2962275"/>
            <a:ext cx="523875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BF24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A64C0F-D0F2-4299-92C9-4B188A3A599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734425" y="2466975"/>
            <a:ext cx="5238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DD4BF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29E57A-210B-4EA7-97B4-1BBE6179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Where Hush state lives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3EDDB-63A3-4710-B14D-AC6B7F1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Milestone 3 kept durable data on one VM. Milestone 4 separates compute from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E50AF-3C24-47F2-8B2C-A3338C3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06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1C985-47A8-4DB1-9F73-EC7BC451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BEFORE  ·  MILESTONE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3231C-E71A-43F2-BEFD-3F1D2096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87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AFTER  ·  MILESTONE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BDC14-81C3-4C50-AA2F-CCB480A4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453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0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F59D3-5E0D-43AE-ABE5-4261149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476750" cy="2971800"/>
          </a:xfrm>
          <a:prstGeom xmlns:a="http://schemas.openxmlformats.org/drawingml/2006/main" prst="roundRect">
            <a:avLst>
              <a:gd name="adj" fmla="val 4487"/>
            </a:avLst>
          </a:prstGeom>
          <a:solidFill xmlns:a="http://schemas.openxmlformats.org/drawingml/2006/main">
            <a:srgbClr val="3C1D2A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0F84E-E495-4EC7-82BE-EE870482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76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297E0-95F6-4AB2-A3C1-088D9A24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One VM held compute and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02EEE-1A45-422B-A914-A4F324EA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40767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Hush API + Whisper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SQLite history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Uploaded WAV files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config.toml + .env secrets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Local Docker volumes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9B455-96E1-4F4F-A4FB-01C0C383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4476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C1D2A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B9D3A-217A-4BA9-9E54-39217774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9725"/>
            <a:ext cx="413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240"/>
          </a:bodyPr>
          <a:lstStyle xmlns:a="http://schemas.openxmlformats.org/drawingml/2006/main">
            <a:defPPr algn="ctr">
              <a:defRPr sz="1575" b="1">
                <a:solidFill>
                  <a:srgbClr val="FFD5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D5D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D5DC"/>
                </a:solidFill>
                <a:latin typeface="Arial"/>
                <a:ea typeface="Arial"/>
                <a:cs typeface="Arial"/>
              </a:rPr>
              <a:t>Delete the VM: application and durable data are lost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5426E-683A-4438-918E-CB487BBB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81225"/>
            <a:ext cx="2247900" cy="15621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14288">
            <a:solidFill>
              <a:srgbClr val="60A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C6ECC-84EA-4B69-BC21-CB1CEA53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81225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504F9-FC69-4AD3-8FFD-25ED25E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Disposable VM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24F53-FF0B-41CA-A6BF-B355D7C7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33675"/>
            <a:ext cx="1847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Hush API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Whisper inference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No .env 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51BA3-A27A-42F0-8A35-DB55F072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71675"/>
            <a:ext cx="23241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EDAAD-94E5-4104-BA7F-E92EC200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7167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1936E-952B-4B63-9F10-0CE23842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336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Cloud 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DC8D0-E543-49AA-A0AF-92E27635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241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>
            <a:def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History, uploads, settings, snippets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71681-26D3-4412-B54E-914E0FEE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3241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14288">
            <a:solidFill>
              <a:srgbClr val="FBBF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2179C7-28AC-48F7-B2D1-7F66335B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6C178-490C-4B8A-BB53-1D127E9D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95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Cloud Storage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F08A9-7F1B-4FE3-9A1C-3433BA4F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8617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103"/>
          </a:bodyPr>
          <a:lstStyle xmlns:a="http://schemas.openxmlformats.org/drawingml/2006/main">
            <a:def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WAV uploads + migration backup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4DFCB-F9EB-429C-AF8A-91EEAC99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95775"/>
            <a:ext cx="23241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A5711-EAA4-4E79-AB8E-D710C09B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9577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C302BE-AD97-4961-A807-03D15D3E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Secret 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8C0A8B-A215-4FA3-96A2-57B6A400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8482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87"/>
          </a:bodyPr>
          <a:lstStyle xmlns:a="http://schemas.openxmlformats.org/drawingml/2006/main">
            <a:def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DB password + team token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3D64F3-6281-4279-BADD-6EE2CD1C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53075"/>
            <a:ext cx="5095875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123B43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030E14-8F6F-48BE-9E3C-2A4A2C63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48325"/>
            <a:ext cx="4752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464"/>
          </a:bodyPr>
          <a:lstStyle xmlns:a="http://schemas.openxmlformats.org/drawingml/2006/main">
            <a:defPPr algn="ctr">
              <a:defRPr sz="1575" b="1">
                <a:solidFill>
                  <a:srgbClr val="B9FF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B9FFF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F4"/>
                </a:solidFill>
                <a:latin typeface="Arial"/>
                <a:ea typeface="Arial"/>
                <a:cs typeface="Arial"/>
              </a:rPr>
              <a:t>Delete the VM: downtime only; durable state survives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C606EF-17DA-40C1-9677-69714A1D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57775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>
            <a:def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Artifact Registry keeps the exact v2.0.2 image and digest</a:t>
            </a:r>
          </a:p>
        </p:txBody>
      </p:sp>
    </p:spTree>
    <p:extLst>
      <p:ext uri="{BB962C8B-B14F-4D97-AF65-F5344CB8AC3E}">
        <p14:creationId xmlns:p14="http://schemas.microsoft.com/office/powerpoint/2010/main" val="688002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B151A6-91D5-4716-8442-6E5BAF568251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5238750" y="3733800"/>
            <a:ext cx="9525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DD4BF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0A671-6147-4329-8944-BD298CCE27C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828800" y="3714750"/>
            <a:ext cx="95250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1B2CE6-38B9-48CD-BB7C-C054D186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Identity and network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93E86-798A-4DAB-A031-7C54165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The app stays on VM loopback; an encrypted SSH tunnel and IAM protect every state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81FBC-FA47-42C6-AA29-51C54812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06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99564-7AAD-4DE7-826B-4D462209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19"/>
          </a:bodyPr>
          <a:lstStyle xmlns:a="http://schemas.openxmlformats.org/drawingml/2006/main">
            <a:defPPr algn="l">
              <a:defRPr sz="13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ENCRYPTED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FF5F4-1DF4-4AA6-BB95-DC0A81D3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57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HUSH-VPC  ·  US-CENTRAL1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05830-E9B5-4AAF-BA46-70365778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GOOGLE MANAGED 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95E96-B4CE-4B11-B55E-8EB22435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71675"/>
            <a:ext cx="6743700" cy="41148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0A1C28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03009-0922-46E0-A386-4A1DC3B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66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VPC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1DB48-E421-43E4-B806-E3437C0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038475"/>
            <a:ext cx="1381125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3C1D2A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F5BBA-2535-4B24-BA0E-AE12EDA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038475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6ED6D-0537-46E9-8E4D-2B29BB3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00400"/>
            <a:ext cx="98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785"/>
          </a:bodyPr>
          <a:lstStyle xmlns:a="http://schemas.openxmlformats.org/drawingml/2006/main">
            <a:def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Team clients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B5C73-1206-447A-A0DB-0686E95F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90925"/>
            <a:ext cx="981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754"/>
          </a:bodyPr>
          <a:lstStyle xmlns:a="http://schemas.openxmlformats.org/drawingml/2006/main">
            <a:def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Browser + desktop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Local port 57328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6DC85-010A-46F3-9CAF-B671E524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57450"/>
            <a:ext cx="3143250" cy="3076575"/>
          </a:xfrm>
          <a:prstGeom xmlns:a="http://schemas.openxmlformats.org/drawingml/2006/main" prst="roundRect">
            <a:avLst>
              <a:gd name="adj" fmla="val 4954"/>
            </a:avLst>
          </a:prstGeom>
          <a:solidFill xmlns:a="http://schemas.openxmlformats.org/drawingml/2006/main">
            <a:srgbClr val="0C2533"/>
          </a:solidFill>
          <a:ln xmlns:a="http://schemas.openxmlformats.org/drawingml/2006/main" w="14288">
            <a:solidFill>
              <a:srgbClr val="60A5FA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2DB13-3A39-42C0-A26C-2A2F1E81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71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hush-subnet  10.10.0.0/24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13105-F400-4C72-9E2F-5A90FFB5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86100"/>
            <a:ext cx="24574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14288">
            <a:solidFill>
              <a:srgbClr val="60A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FE8FE-45E9-45D0-BC92-D9A476ED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861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57756-AA40-4317-B115-053F9AB9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480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48"/>
          </a:bodyPr>
          <a:lstStyle xmlns:a="http://schemas.openxmlformats.org/drawingml/2006/main">
            <a:def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hush-vm  ·  10.10.0.2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25AA6-A4A5-4FF5-AD91-FB357836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2057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Container: hush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Image: v2.0.2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Public IP: SSH only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Hush: 127.0.0.1:57327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06635-D981-4255-9DDA-F992BB34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62525"/>
            <a:ext cx="22098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23B43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7E601-FA63-4828-B12F-B3ED3ED8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48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522"/>
          </a:bodyPr>
          <a:lstStyle xmlns:a="http://schemas.openxmlformats.org/drawingml/2006/main">
            <a:defPPr algn="ctr">
              <a:defRPr sz="1200" b="1">
                <a:solidFill>
                  <a:srgbClr val="B9FF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B9FF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FFF4"/>
                </a:solidFill>
                <a:latin typeface="Arial"/>
                <a:ea typeface="Arial"/>
                <a:cs typeface="Arial"/>
              </a:rPr>
              <a:t>Identity: hush-runtime service account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DD98F-52CB-46E4-A2FE-10A352BB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2238375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14288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5CAFE-B1E0-46D9-AD08-020F149C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1C73E-32EB-4CE0-9026-801E457C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57525"/>
            <a:ext cx="1838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9028"/>
          </a:bodyPr>
          <a:lstStyle xmlns:a="http://schemas.openxmlformats.org/drawingml/2006/main">
            <a:def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Cloud SQL  ·  PostgreSQL 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63AFE-3B4B-4358-8522-A153AB7F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18383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Private IP: 172.18.170.3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Private service access</a:t>
            </a:r>
          </a:p>
          <a:p xmlns:a="http://schemas.openxmlformats.org/drawingml/2006/main">
            <a:pPr algn="l">
              <a:defRPr sz="1425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Public IP: disabled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A7130-A127-4A40-98E5-D409BF18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PRIVATE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4E2A5-AB97-4DCF-B647-04D748FA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164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SSH TUNNEL  ·  ENCRYPTED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E6BB8-35A3-4076-A789-25ADA05C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00425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PRIVATE VPC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359215-983D-42B2-AB12-0283E2D5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571750" cy="40862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030"/>
          </a:solidFill>
          <a:ln xmlns:a="http://schemas.openxmlformats.org/drawingml/2006/main" w="14288">
            <a:solidFill>
              <a:srgbClr val="3150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C04E9C-4D4B-4925-B4F0-F685407F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946"/>
          </a:bodyPr>
          <a:lstStyle xmlns:a="http://schemas.openxmlformats.org/drawingml/2006/main">
            <a:defPPr algn="l">
              <a:defRPr sz="1725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2F6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6F8"/>
                </a:solidFill>
                <a:latin typeface="Arial"/>
                <a:ea typeface="Arial"/>
                <a:cs typeface="Arial"/>
              </a:rPr>
              <a:t>IAM grants for hush-runtime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7AFAC9-C1D8-4FA8-8A06-2F364F4F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52725"/>
            <a:ext cx="20955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Cloud SQL</a:t>
            </a:r>
          </a:p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Cloud SQL Client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Cloud Storage bucket</a:t>
            </a:r>
          </a:p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Storage Object User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Two Hush secrets</a:t>
            </a:r>
          </a:p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Secret Accessor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Artifact Registry</a:t>
            </a:r>
          </a:p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Artifact Registry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Cloud Logging</a:t>
            </a:r>
          </a:p>
          <a:p xmlns:a="http://schemas.openxmlformats.org/drawingml/2006/main">
            <a:pPr algn="l">
              <a:defRPr sz="1350" b="0">
                <a:solidFill>
                  <a:srgbClr val="A8BAC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AC6"/>
                </a:solidFill>
                <a:latin typeface="Arial"/>
                <a:ea typeface="Arial"/>
                <a:cs typeface="Arial"/>
              </a:rPr>
              <a:t>Logs Writer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EFE297-FF21-4568-8B62-E9D616D6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245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4ADE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ADE80"/>
                </a:solidFill>
                <a:latin typeface="Arial"/>
                <a:ea typeface="Arial"/>
                <a:cs typeface="Arial"/>
              </a:rPr>
              <a:t>No JSON key file</a:t>
            </a:r>
          </a:p>
        </p:txBody>
      </p:sp>
    </p:spTree>
    <p:extLst>
      <p:ext uri="{BB962C8B-B14F-4D97-AF65-F5344CB8AC3E}">
        <p14:creationId xmlns:p14="http://schemas.microsoft.com/office/powerpoint/2010/main" val="162982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2026-10-16T02:00:09.4300000Z</dcterms:created>
  <dcterms:modified xsi:type="dcterms:W3CDTF">2026-10-16T02:00:09.4300000Z</dcterms:modified>
</coreProperties>
</file>